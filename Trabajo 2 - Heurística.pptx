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19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Estilo medio 2 - Énfasis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4995" autoAdjust="0"/>
    <p:restoredTop sz="94660"/>
  </p:normalViewPr>
  <p:slideViewPr>
    <p:cSldViewPr snapToGrid="0">
      <p:cViewPr varScale="1">
        <p:scale>
          <a:sx n="82" d="100"/>
          <a:sy n="82" d="100"/>
        </p:scale>
        <p:origin x="720" y="7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presProps" Target="presProps.xml"/><Relationship Id="rId5" Type="http://schemas.openxmlformats.org/officeDocument/2006/relationships/slide" Target="slides/slide4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tableStyles" Target="tableStyle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Diapositiva de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32" name="Straight Connector 31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4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0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31" name="Isosceles Triangle 30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 rot="10800000">
              <a:off x="0" y="0"/>
              <a:ext cx="842596" cy="5666154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s-ES"/>
              <a:t>Haga clic para modificar el estilo de subtítulo del patrón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79966977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ítulo y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>
            <a:lvl1pPr>
              <a:defRPr sz="36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4675362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Encabezado de sec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29442761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Dos objetos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58793461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a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5909590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Solo el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83698123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En blanc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0211054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ido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147925745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Imagen con títul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s-ES"/>
              <a:t>Haga clic en el icono para agregar una imagen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4397572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ítulo y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955593695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 con descripció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  <p:sp>
        <p:nvSpPr>
          <p:cNvPr id="20" name="TextBox 19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latin typeface="Arial"/>
              </a:rPr>
              <a:t>”</a:t>
            </a:r>
            <a:endParaRPr lang="en-US" dirty="0">
              <a:solidFill>
                <a:schemeClr val="accent1">
                  <a:lumMod val="60000"/>
                  <a:lumOff val="40000"/>
                </a:schemeClr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8129380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976769841"/>
      </p:ext>
    </p:extLst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itar la tarjeta de nombr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  <p:extLst>
      <p:ext uri="{BB962C8B-B14F-4D97-AF65-F5344CB8AC3E}">
        <p14:creationId xmlns:p14="http://schemas.microsoft.com/office/powerpoint/2010/main" val="67608658"/>
      </p:ext>
    </p:extLst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Verdadero o fals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s-ES"/>
              <a:t>Haga clic para modificar los estilos de texto del patrón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62294016"/>
      </p:ext>
    </p:extLst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ítulo y texto vertica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2699359218"/>
      </p:ext>
    </p:extLst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Título vertical y texto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422672686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bg1">
                  <a:lumMod val="7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bg1">
                  <a:lumMod val="85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2">
                <a:alpha val="72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1">
                <a:lumMod val="60000"/>
                <a:lumOff val="40000"/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6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9" name="Isosceles Triangle 2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85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s-ES"/>
              <a:t>Haga clic para modificar el estilo de título del patrón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s-ES"/>
              <a:t>Haga clic para modificar los estilos de texto del patrón</a:t>
            </a:r>
          </a:p>
          <a:p>
            <a:pPr lvl="1"/>
            <a:r>
              <a:rPr lang="es-ES"/>
              <a:t>Segundo nivel</a:t>
            </a:r>
          </a:p>
          <a:p>
            <a:pPr lvl="2"/>
            <a:r>
              <a:rPr lang="es-ES"/>
              <a:t>Tercer nivel</a:t>
            </a:r>
          </a:p>
          <a:p>
            <a:pPr lvl="3"/>
            <a:r>
              <a:rPr lang="es-ES"/>
              <a:t>Cuarto nivel</a:t>
            </a:r>
          </a:p>
          <a:p>
            <a:pPr lvl="4"/>
            <a:r>
              <a:rPr lang="es-ES"/>
              <a:t>Quinto nivel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6B47BC-74F2-4B44-99C4-0FD85C9CF2BC}" type="datetimeFigureOut">
              <a:rPr lang="es-CO" smtClean="0"/>
              <a:t>21/04/2026</a:t>
            </a:fld>
            <a:endParaRPr lang="es-CO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s-CO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1FDA7587-6FB7-4AB2-A32F-3DD3B62590E2}" type="slidenum">
              <a:rPr lang="es-CO" smtClean="0"/>
              <a:t>‹Nº›</a:t>
            </a:fld>
            <a:endParaRPr lang="es-CO"/>
          </a:p>
        </p:txBody>
      </p:sp>
    </p:spTree>
    <p:extLst>
      <p:ext uri="{BB962C8B-B14F-4D97-AF65-F5344CB8AC3E}">
        <p14:creationId xmlns:p14="http://schemas.microsoft.com/office/powerpoint/2010/main" val="304930124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20" r:id="rId1"/>
    <p:sldLayoutId id="2147483721" r:id="rId2"/>
    <p:sldLayoutId id="2147483722" r:id="rId3"/>
    <p:sldLayoutId id="2147483723" r:id="rId4"/>
    <p:sldLayoutId id="2147483724" r:id="rId5"/>
    <p:sldLayoutId id="2147483725" r:id="rId6"/>
    <p:sldLayoutId id="2147483726" r:id="rId7"/>
    <p:sldLayoutId id="2147483727" r:id="rId8"/>
    <p:sldLayoutId id="2147483728" r:id="rId9"/>
    <p:sldLayoutId id="2147483729" r:id="rId10"/>
    <p:sldLayoutId id="2147483730" r:id="rId11"/>
    <p:sldLayoutId id="2147483731" r:id="rId12"/>
    <p:sldLayoutId id="2147483732" r:id="rId13"/>
    <p:sldLayoutId id="2147483733" r:id="rId14"/>
    <p:sldLayoutId id="2147483734" r:id="rId15"/>
    <p:sldLayoutId id="2147483735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E217B655-D5BC-FAEF-7A43-F1FF3E01CEA5}"/>
              </a:ext>
            </a:extLst>
          </p:cNvPr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s-MX" dirty="0"/>
              <a:t>Trabajo 2 - Heurística</a:t>
            </a:r>
            <a:endParaRPr lang="es-CO" dirty="0"/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83340B2D-E223-F4A6-4CDB-AE17FCE060B2}"/>
              </a:ext>
            </a:extLst>
          </p:cNvPr>
          <p:cNvSpPr>
            <a:spLocks noGrp="1"/>
          </p:cNvSpPr>
          <p:nvPr>
            <p:ph type="subTitle" idx="1"/>
          </p:nvPr>
        </p:nvSpPr>
        <p:spPr/>
        <p:txBody>
          <a:bodyPr>
            <a:normAutofit lnSpcReduction="10000"/>
          </a:bodyPr>
          <a:lstStyle/>
          <a:p>
            <a:r>
              <a:rPr lang="es-MX" dirty="0" err="1"/>
              <a:t>Busqueda</a:t>
            </a:r>
            <a:r>
              <a:rPr lang="es-MX" dirty="0"/>
              <a:t> local para el No-</a:t>
            </a:r>
            <a:r>
              <a:rPr lang="es-MX" dirty="0" err="1"/>
              <a:t>Wait</a:t>
            </a:r>
            <a:r>
              <a:rPr lang="es-MX" dirty="0"/>
              <a:t> Job Shop </a:t>
            </a:r>
            <a:r>
              <a:rPr lang="es-MX" dirty="0" err="1"/>
              <a:t>scheduling</a:t>
            </a:r>
            <a:r>
              <a:rPr lang="es-MX" dirty="0"/>
              <a:t> </a:t>
            </a:r>
            <a:r>
              <a:rPr lang="es-MX" dirty="0" err="1"/>
              <a:t>Problem</a:t>
            </a:r>
            <a:r>
              <a:rPr lang="es-MX" dirty="0"/>
              <a:t> (NWJSSP)</a:t>
            </a:r>
          </a:p>
          <a:p>
            <a:r>
              <a:rPr lang="es-MX" dirty="0"/>
              <a:t>Autor: Arturo Fernando Murgueytio Arias</a:t>
            </a:r>
          </a:p>
          <a:p>
            <a:r>
              <a:rPr lang="es-MX" dirty="0"/>
              <a:t>Fecha: 19/04/2026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426518913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9944825D-5409-CAC6-AD11-A77A911517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03718" y="465915"/>
            <a:ext cx="3603171" cy="1558827"/>
          </a:xfrm>
        </p:spPr>
        <p:txBody>
          <a:bodyPr>
            <a:normAutofit/>
          </a:bodyPr>
          <a:lstStyle/>
          <a:p>
            <a:r>
              <a:rPr lang="es-MX" sz="5400" b="1" dirty="0"/>
              <a:t>Contenido</a:t>
            </a:r>
            <a:endParaRPr lang="es-CO" sz="5400" b="1" dirty="0"/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9539E22A-EE30-E5C3-0A4D-AE85A7C8EBE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933061" y="1950098"/>
            <a:ext cx="9088017" cy="3480317"/>
          </a:xfrm>
        </p:spPr>
        <p:txBody>
          <a:bodyPr>
            <a:normAutofit/>
          </a:bodyPr>
          <a:lstStyle/>
          <a:p>
            <a:r>
              <a:rPr lang="es-MX" sz="2400" dirty="0"/>
              <a:t>Descripción de los algoritmos implementados (2-Opt, </a:t>
            </a:r>
            <a:r>
              <a:rPr lang="es-MX" sz="2400" dirty="0" err="1"/>
              <a:t>Insertion</a:t>
            </a:r>
            <a:r>
              <a:rPr lang="es-MX" sz="2400" dirty="0"/>
              <a:t> 10, Swap 10)</a:t>
            </a:r>
          </a:p>
          <a:p>
            <a:r>
              <a:rPr lang="es-MX" sz="2400" b="0" i="0" dirty="0">
                <a:effectLst/>
                <a:latin typeface="Arial" panose="020B0604020202020204" pitchFamily="34" charset="0"/>
              </a:rPr>
              <a:t>Comparaciones con los métodos constructivos y aleatorizados desarrollados en los trabajos previos</a:t>
            </a:r>
          </a:p>
          <a:p>
            <a:r>
              <a:rPr lang="es-MX" sz="2400" dirty="0">
                <a:latin typeface="Arial" panose="020B0604020202020204" pitchFamily="34" charset="0"/>
              </a:rPr>
              <a:t>Resultado y comparativas</a:t>
            </a:r>
          </a:p>
          <a:p>
            <a:r>
              <a:rPr lang="es-MX" sz="2400" dirty="0">
                <a:latin typeface="Arial" panose="020B0604020202020204" pitchFamily="34" charset="0"/>
              </a:rPr>
              <a:t>Conclusión</a:t>
            </a:r>
          </a:p>
          <a:p>
            <a:r>
              <a:rPr lang="es-MX" sz="2400" b="0" i="0" dirty="0">
                <a:effectLst/>
                <a:latin typeface="Arial" panose="020B0604020202020204" pitchFamily="34" charset="0"/>
              </a:rPr>
              <a:t>Referencias</a:t>
            </a:r>
          </a:p>
        </p:txBody>
      </p:sp>
    </p:spTree>
    <p:extLst>
      <p:ext uri="{BB962C8B-B14F-4D97-AF65-F5344CB8AC3E}">
        <p14:creationId xmlns:p14="http://schemas.microsoft.com/office/powerpoint/2010/main" val="4921823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1F527D96-D332-73E8-D050-5810B00D413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0" y="0"/>
            <a:ext cx="10515600" cy="1325563"/>
          </a:xfrm>
        </p:spPr>
        <p:txBody>
          <a:bodyPr/>
          <a:lstStyle/>
          <a:p>
            <a:r>
              <a:rPr lang="es-CO" b="1" dirty="0"/>
              <a:t>ALGORITMO 2-OPT</a:t>
            </a:r>
          </a:p>
        </p:txBody>
      </p:sp>
      <p:sp>
        <p:nvSpPr>
          <p:cNvPr id="3" name="Marcador de contenido 2">
            <a:extLst>
              <a:ext uri="{FF2B5EF4-FFF2-40B4-BE49-F238E27FC236}">
                <a16:creationId xmlns:a16="http://schemas.microsoft.com/office/drawing/2014/main" id="{0CB57C5E-11A6-E5C0-1F94-19A0C33391F4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90330" y="1097837"/>
            <a:ext cx="10515600" cy="5498906"/>
          </a:xfrm>
        </p:spPr>
        <p:txBody>
          <a:bodyPr>
            <a:normAutofit/>
          </a:bodyPr>
          <a:lstStyle/>
          <a:p>
            <a:pPr marL="0" indent="0">
              <a:buNone/>
            </a:pPr>
            <a:r>
              <a:rPr lang="es-MX" sz="2000" b="1" dirty="0"/>
              <a:t>Concepto: </a:t>
            </a:r>
            <a:r>
              <a:rPr lang="es-MX" sz="2000" dirty="0"/>
              <a:t>Intercambia dos trabajos consecutivos en la secuencia de programación.</a:t>
            </a:r>
          </a:p>
          <a:p>
            <a:pPr marL="0" indent="0">
              <a:buNone/>
            </a:pPr>
            <a:endParaRPr lang="es-MX" sz="2000" dirty="0"/>
          </a:p>
          <a:p>
            <a:pPr marL="0" indent="0">
              <a:buNone/>
            </a:pPr>
            <a:r>
              <a:rPr lang="es-MX" sz="2000" b="1" dirty="0" err="1"/>
              <a:t>Pseudocodigo</a:t>
            </a:r>
            <a:r>
              <a:rPr lang="es-MX" sz="2000" b="1" dirty="0"/>
              <a:t>:</a:t>
            </a:r>
          </a:p>
          <a:p>
            <a:pPr marL="0" indent="0">
              <a:buNone/>
            </a:pPr>
            <a:r>
              <a:rPr lang="es-MX" sz="2000" dirty="0"/>
              <a:t>	Entrada: Solución inicial (secuencia de trabajos)</a:t>
            </a:r>
          </a:p>
          <a:p>
            <a:pPr marL="0" indent="0">
              <a:buNone/>
            </a:pPr>
            <a:r>
              <a:rPr lang="es-MX" sz="2000" dirty="0"/>
              <a:t>	Mientras haya mejora:  </a:t>
            </a:r>
          </a:p>
          <a:p>
            <a:pPr marL="0" indent="0">
              <a:buNone/>
            </a:pPr>
            <a:r>
              <a:rPr lang="es-MX" sz="2000" dirty="0"/>
              <a:t>		Para cada par (i, i+1):    </a:t>
            </a:r>
          </a:p>
          <a:p>
            <a:pPr marL="0" indent="0">
              <a:buNone/>
            </a:pPr>
            <a:r>
              <a:rPr lang="es-MX" sz="2000" dirty="0"/>
              <a:t>			Generar vecino intercambiando trabajos i e i+1    </a:t>
            </a:r>
          </a:p>
          <a:p>
            <a:pPr marL="0" indent="0">
              <a:buNone/>
            </a:pPr>
            <a:r>
              <a:rPr lang="es-MX" sz="2000" dirty="0"/>
              <a:t>			Evaluar </a:t>
            </a:r>
            <a:r>
              <a:rPr lang="es-MX" sz="2000" dirty="0" err="1"/>
              <a:t>flow</a:t>
            </a:r>
            <a:r>
              <a:rPr lang="es-MX" sz="2000" dirty="0"/>
              <a:t> time del vecino  </a:t>
            </a:r>
          </a:p>
          <a:p>
            <a:pPr marL="0" indent="0">
              <a:buNone/>
            </a:pPr>
            <a:r>
              <a:rPr lang="es-MX" sz="2000" dirty="0"/>
              <a:t>		Seleccionar mejor vecino encontrado  </a:t>
            </a:r>
          </a:p>
          <a:p>
            <a:pPr marL="0" indent="0">
              <a:buNone/>
            </a:pPr>
            <a:r>
              <a:rPr lang="es-MX" sz="2000" dirty="0"/>
              <a:t>		Si mejor &lt; actual:    </a:t>
            </a:r>
          </a:p>
          <a:p>
            <a:pPr marL="0" indent="0">
              <a:buNone/>
            </a:pPr>
            <a:r>
              <a:rPr lang="es-MX" sz="2000" dirty="0"/>
              <a:t>			Actualizar solución</a:t>
            </a:r>
          </a:p>
          <a:p>
            <a:pPr marL="0" indent="0">
              <a:buNone/>
            </a:pPr>
            <a:r>
              <a:rPr lang="es-MX" sz="2000" dirty="0"/>
              <a:t>	Retornar mejor solución</a:t>
            </a:r>
            <a:endParaRPr lang="es-CO" sz="2000" dirty="0"/>
          </a:p>
        </p:txBody>
      </p:sp>
    </p:spTree>
    <p:extLst>
      <p:ext uri="{BB962C8B-B14F-4D97-AF65-F5344CB8AC3E}">
        <p14:creationId xmlns:p14="http://schemas.microsoft.com/office/powerpoint/2010/main" val="93497614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dirty="0"/>
                  <a:t>Características:</a:t>
                </a:r>
              </a:p>
              <a:p>
                <a:r>
                  <a:rPr lang="es-CO" sz="2400" dirty="0"/>
                  <a:t>Estrategia: </a:t>
                </a:r>
                <a:r>
                  <a:rPr lang="es-CO" sz="2400" dirty="0" err="1"/>
                  <a:t>Best</a:t>
                </a:r>
                <a:r>
                  <a:rPr lang="es-CO" sz="2400" dirty="0"/>
                  <a:t> </a:t>
                </a:r>
                <a:r>
                  <a:rPr lang="es-CO" sz="2400" dirty="0" err="1"/>
                  <a:t>Improvement</a:t>
                </a:r>
                <a:endParaRPr lang="es-CO" sz="2400" dirty="0"/>
              </a:p>
              <a:p>
                <a:r>
                  <a:rPr lang="es-CO" sz="2400" dirty="0" err="1"/>
                  <a:t>Moviemiento</a:t>
                </a:r>
                <a:r>
                  <a:rPr lang="es-CO" sz="2400" dirty="0"/>
                  <a:t>: Intercambio de 2 trabajos consecutivos</a:t>
                </a:r>
              </a:p>
              <a:p>
                <a:r>
                  <a:rPr lang="es-CO" sz="2400" dirty="0"/>
                  <a:t>Vecinos por Vecindario: n-1</a:t>
                </a:r>
              </a:p>
              <a:p>
                <a:r>
                  <a:rPr lang="es-MX" sz="2400" dirty="0"/>
                  <a:t>Complejidad: </a:t>
                </a:r>
                <a14:m>
                  <m:oMath xmlns:m="http://schemas.openxmlformats.org/officeDocument/2006/math">
                    <m:r>
                      <m:rPr>
                        <m:sty m:val="p"/>
                      </m:rPr>
                      <a:rPr lang="es-MX" sz="2400" b="0" i="0" smtClean="0">
                        <a:latin typeface="Cambria Math" panose="02040503050406030204" pitchFamily="18" charset="0"/>
                      </a:rPr>
                      <m:t>O</m:t>
                    </m:r>
                    <m:r>
                      <a:rPr lang="es-MX" sz="2400" b="0" i="0" smtClean="0">
                        <a:latin typeface="Cambria Math" panose="02040503050406030204" pitchFamily="18" charset="0"/>
                      </a:rPr>
                      <m:t>(</m:t>
                    </m:r>
                    <m:sSup>
                      <m:sSupPr>
                        <m:ctrlPr>
                          <a:rPr lang="es-MX" sz="2400" i="1" smtClean="0">
                            <a:latin typeface="Cambria Math" panose="02040503050406030204" pitchFamily="18" charset="0"/>
                          </a:rPr>
                        </m:ctrlPr>
                      </m:sSupPr>
                      <m:e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𝑛</m:t>
                        </m:r>
                      </m:e>
                      <m:sup>
                        <m:r>
                          <a:rPr lang="es-MX" sz="2400" b="0" i="1" smtClean="0">
                            <a:latin typeface="Cambria Math" panose="02040503050406030204" pitchFamily="18" charset="0"/>
                          </a:rPr>
                          <m:t>2</m:t>
                        </m:r>
                      </m:sup>
                    </m:sSup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s-MX" sz="2400" dirty="0"/>
              </a:p>
              <a:p>
                <a:endParaRPr lang="es-MX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MX" sz="2400" b="1" dirty="0"/>
                  <a:t>Ventaja:</a:t>
                </a:r>
              </a:p>
              <a:p>
                <a:pPr marL="0" indent="0">
                  <a:buNone/>
                </a:pPr>
                <a:r>
                  <a:rPr lang="es-MX" sz="2400" dirty="0"/>
                  <a:t>Evalúa vecinos muy cercanos a la solución actual, haciendo un refinamiento local.</a:t>
                </a:r>
              </a:p>
              <a:p>
                <a:endParaRPr lang="es-MX" dirty="0"/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  <a:blipFill>
                <a:blip r:embed="rId2"/>
                <a:stretch>
                  <a:fillRect l="-887" t="-8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791CC79-2D3B-9447-41F9-B42281207BC7}"/>
              </a:ext>
            </a:extLst>
          </p:cNvPr>
          <p:cNvSpPr txBox="1">
            <a:spLocks/>
          </p:cNvSpPr>
          <p:nvPr/>
        </p:nvSpPr>
        <p:spPr>
          <a:xfrm>
            <a:off x="838200" y="4096074"/>
            <a:ext cx="10515600" cy="2531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423323372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597C0-EC2A-05B4-17EF-A8D21297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7" y="189723"/>
            <a:ext cx="8596668" cy="762000"/>
          </a:xfrm>
        </p:spPr>
        <p:txBody>
          <a:bodyPr/>
          <a:lstStyle/>
          <a:p>
            <a:r>
              <a:rPr lang="es-CO" dirty="0"/>
              <a:t>ALGORITMO INSERTION 10-RANGE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75605E6-8B6F-6A69-6076-CFBDEF977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50762" y="1268963"/>
            <a:ext cx="10515600" cy="5498906"/>
          </a:xfrm>
        </p:spPr>
        <p:txBody>
          <a:bodyPr>
            <a:normAutofit lnSpcReduction="10000"/>
          </a:bodyPr>
          <a:lstStyle/>
          <a:p>
            <a:pPr marL="0" indent="0">
              <a:buNone/>
            </a:pPr>
            <a:r>
              <a:rPr lang="es-MX" b="1" dirty="0"/>
              <a:t>Concepto: </a:t>
            </a:r>
            <a:r>
              <a:rPr lang="es-MX" dirty="0"/>
              <a:t>Extrae un trabajo de su posición actual e intenta insertarlo en otras posiciones dentro de un rango de 10 (máximo 10 posiciones de distancia).</a:t>
            </a:r>
          </a:p>
          <a:p>
            <a:pPr marL="0" indent="0">
              <a:buNone/>
            </a:pPr>
            <a:endParaRPr lang="es-MX" dirty="0"/>
          </a:p>
          <a:p>
            <a:pPr marL="0" indent="0">
              <a:buNone/>
            </a:pPr>
            <a:r>
              <a:rPr lang="es-MX" b="1" dirty="0" err="1"/>
              <a:t>Pseudocodigo</a:t>
            </a:r>
            <a:r>
              <a:rPr lang="es-MX" b="1" dirty="0"/>
              <a:t>:</a:t>
            </a:r>
          </a:p>
          <a:p>
            <a:pPr marL="0" indent="0">
              <a:buNone/>
            </a:pPr>
            <a:r>
              <a:rPr lang="es-MX" dirty="0"/>
              <a:t>	Entrada: Solución inicial (secuencia de trabajos)</a:t>
            </a:r>
          </a:p>
          <a:p>
            <a:pPr marL="0" indent="0">
              <a:buNone/>
            </a:pPr>
            <a:r>
              <a:rPr lang="es-MX" dirty="0"/>
              <a:t>	Mientras haya mejora:  </a:t>
            </a:r>
          </a:p>
          <a:p>
            <a:pPr marL="0" indent="0">
              <a:buNone/>
            </a:pPr>
            <a:r>
              <a:rPr lang="es-MX" dirty="0"/>
              <a:t>		Para cada </a:t>
            </a:r>
            <a:r>
              <a:rPr lang="es-CO" dirty="0"/>
              <a:t>posición i:</a:t>
            </a:r>
          </a:p>
          <a:p>
            <a:pPr marL="0" indent="0">
              <a:buNone/>
            </a:pPr>
            <a:r>
              <a:rPr lang="es-CO" dirty="0"/>
              <a:t>			</a:t>
            </a:r>
            <a:r>
              <a:rPr lang="es-MX" dirty="0"/>
              <a:t>Extraer trabajo en posición i</a:t>
            </a:r>
          </a:p>
          <a:p>
            <a:pPr marL="0" indent="0">
              <a:buNone/>
            </a:pPr>
            <a:r>
              <a:rPr lang="es-MX" dirty="0"/>
              <a:t>			</a:t>
            </a:r>
            <a:r>
              <a:rPr lang="sv-SE" dirty="0"/>
              <a:t>Para j en [i-10, i+10]:</a:t>
            </a:r>
            <a:endParaRPr lang="es-MX" dirty="0"/>
          </a:p>
          <a:p>
            <a:pPr marL="0" indent="0">
              <a:buNone/>
            </a:pPr>
            <a:r>
              <a:rPr lang="es-MX" dirty="0"/>
              <a:t>				Insertar trabajo en posición j</a:t>
            </a:r>
          </a:p>
          <a:p>
            <a:pPr marL="0" indent="0">
              <a:buNone/>
            </a:pPr>
            <a:r>
              <a:rPr lang="es-MX" dirty="0"/>
              <a:t>				Evaluar </a:t>
            </a:r>
            <a:r>
              <a:rPr lang="es-MX" dirty="0" err="1"/>
              <a:t>flow</a:t>
            </a:r>
            <a:r>
              <a:rPr lang="es-MX" dirty="0"/>
              <a:t> time </a:t>
            </a:r>
          </a:p>
          <a:p>
            <a:pPr marL="0" indent="0">
              <a:buNone/>
            </a:pPr>
            <a:r>
              <a:rPr lang="es-MX" dirty="0"/>
              <a:t>				Si mejor &lt; actual:    </a:t>
            </a:r>
          </a:p>
          <a:p>
            <a:pPr marL="0" indent="0">
              <a:buNone/>
            </a:pPr>
            <a:r>
              <a:rPr lang="es-MX" dirty="0"/>
              <a:t>					Actualizar solución </a:t>
            </a:r>
          </a:p>
          <a:p>
            <a:pPr marL="0" indent="0">
              <a:buNone/>
            </a:pPr>
            <a:r>
              <a:rPr lang="es-MX" dirty="0"/>
              <a:t>					reiniciar (</a:t>
            </a:r>
            <a:r>
              <a:rPr lang="es-MX" dirty="0" err="1"/>
              <a:t>first</a:t>
            </a:r>
            <a:r>
              <a:rPr lang="es-MX" dirty="0"/>
              <a:t> </a:t>
            </a:r>
            <a:r>
              <a:rPr lang="es-MX" dirty="0" err="1"/>
              <a:t>improvement</a:t>
            </a:r>
            <a:r>
              <a:rPr lang="es-MX" dirty="0"/>
              <a:t>)</a:t>
            </a:r>
          </a:p>
          <a:p>
            <a:pPr marL="0" indent="0">
              <a:buNone/>
            </a:pPr>
            <a:r>
              <a:rPr lang="es-MX" dirty="0"/>
              <a:t>	Retornar mejor solución</a:t>
            </a:r>
            <a:endParaRPr lang="es-CO" dirty="0"/>
          </a:p>
        </p:txBody>
      </p:sp>
    </p:spTree>
    <p:extLst>
      <p:ext uri="{BB962C8B-B14F-4D97-AF65-F5344CB8AC3E}">
        <p14:creationId xmlns:p14="http://schemas.microsoft.com/office/powerpoint/2010/main" val="88548529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dirty="0"/>
                  <a:t>Características:</a:t>
                </a:r>
              </a:p>
              <a:p>
                <a:r>
                  <a:rPr lang="es-CO" sz="2400" dirty="0"/>
                  <a:t>Estrategia: </a:t>
                </a:r>
                <a:r>
                  <a:rPr lang="es-CO" sz="2400" dirty="0" err="1"/>
                  <a:t>First</a:t>
                </a:r>
                <a:r>
                  <a:rPr lang="es-CO" sz="2400" dirty="0"/>
                  <a:t> </a:t>
                </a:r>
                <a:r>
                  <a:rPr lang="es-CO" sz="2400" dirty="0" err="1"/>
                  <a:t>Improvement</a:t>
                </a:r>
                <a:endParaRPr lang="es-CO" sz="2400" dirty="0"/>
              </a:p>
              <a:p>
                <a:r>
                  <a:rPr lang="es-CO" sz="2400" dirty="0" err="1"/>
                  <a:t>Moviemiento</a:t>
                </a:r>
                <a:r>
                  <a:rPr lang="es-CO" sz="2400" dirty="0"/>
                  <a:t>: Inserción con rango limitado</a:t>
                </a:r>
              </a:p>
              <a:p>
                <a:r>
                  <a:rPr lang="es-MX" sz="2400" dirty="0"/>
                  <a:t>Restricción: Máximo 10 posiciones de distancia</a:t>
                </a:r>
              </a:p>
              <a:p>
                <a:r>
                  <a:rPr lang="es-CO" sz="2400" dirty="0"/>
                  <a:t>Vecinos por Vecindario: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×20</m:t>
                    </m:r>
                  </m:oMath>
                </a14:m>
                <a:endParaRPr lang="es-MX" sz="2400" dirty="0"/>
              </a:p>
              <a:p>
                <a:r>
                  <a:rPr lang="es-MX" sz="2400" dirty="0"/>
                  <a:t>Complejidad:	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×10)</m:t>
                    </m:r>
                  </m:oMath>
                </a14:m>
                <a:endParaRPr lang="es-MX" sz="2400" dirty="0"/>
              </a:p>
              <a:p>
                <a:endParaRPr lang="es-MX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MX" sz="2400" b="1" dirty="0"/>
                  <a:t>Ventaja:</a:t>
                </a:r>
              </a:p>
              <a:p>
                <a:pPr marL="0" indent="0">
                  <a:buNone/>
                </a:pPr>
                <a:r>
                  <a:rPr lang="es-MX" sz="2400" dirty="0"/>
                  <a:t>Balance entre exploración local y velocidad. Permite cambios mayores que 2-Opt pero controlados.</a:t>
                </a:r>
              </a:p>
              <a:p>
                <a:endParaRPr lang="es-MX" dirty="0"/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  <a:blipFill>
                <a:blip r:embed="rId2"/>
                <a:stretch>
                  <a:fillRect l="-887" t="-8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791CC79-2D3B-9447-41F9-B42281207BC7}"/>
              </a:ext>
            </a:extLst>
          </p:cNvPr>
          <p:cNvSpPr txBox="1">
            <a:spLocks/>
          </p:cNvSpPr>
          <p:nvPr/>
        </p:nvSpPr>
        <p:spPr>
          <a:xfrm>
            <a:off x="838200" y="4096074"/>
            <a:ext cx="10515600" cy="2531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134830894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6E1597C0-EC2A-05B4-17EF-A8D2129743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17497" y="189723"/>
            <a:ext cx="8596668" cy="762000"/>
          </a:xfrm>
        </p:spPr>
        <p:txBody>
          <a:bodyPr/>
          <a:lstStyle/>
          <a:p>
            <a:r>
              <a:rPr lang="es-CO" dirty="0"/>
              <a:t>ALGORITMO SWAP 10-RANGE</a:t>
            </a:r>
          </a:p>
        </p:txBody>
      </p:sp>
      <p:sp>
        <p:nvSpPr>
          <p:cNvPr id="4" name="Marcador de contenido 2">
            <a:extLst>
              <a:ext uri="{FF2B5EF4-FFF2-40B4-BE49-F238E27FC236}">
                <a16:creationId xmlns:a16="http://schemas.microsoft.com/office/drawing/2014/main" id="{575605E6-8B6F-6A69-6076-CFBDEF97736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341430" y="1082351"/>
            <a:ext cx="10043542" cy="5439748"/>
          </a:xfrm>
        </p:spPr>
        <p:txBody>
          <a:bodyPr>
            <a:normAutofit fontScale="85000" lnSpcReduction="20000"/>
          </a:bodyPr>
          <a:lstStyle/>
          <a:p>
            <a:pPr marL="0" indent="0">
              <a:buNone/>
            </a:pPr>
            <a:r>
              <a:rPr lang="es-MX" sz="2400" b="1" dirty="0"/>
              <a:t>Concepto: </a:t>
            </a:r>
            <a:r>
              <a:rPr lang="es-MX" sz="2400" dirty="0"/>
              <a:t>Intercambia un trabajo con otro trabajo a distancia máxima 10 en la secuencia.</a:t>
            </a:r>
          </a:p>
          <a:p>
            <a:endParaRPr lang="es-MX" sz="2400" dirty="0"/>
          </a:p>
          <a:p>
            <a:pPr marL="0" indent="0">
              <a:buNone/>
            </a:pPr>
            <a:r>
              <a:rPr lang="es-MX" sz="2400" b="1" dirty="0" err="1"/>
              <a:t>Pseudocodigo</a:t>
            </a:r>
            <a:r>
              <a:rPr lang="es-MX" sz="2400" b="1" dirty="0"/>
              <a:t>:</a:t>
            </a:r>
          </a:p>
          <a:p>
            <a:pPr marL="0" indent="0">
              <a:buNone/>
            </a:pPr>
            <a:r>
              <a:rPr lang="es-MX" sz="2400" dirty="0"/>
              <a:t>	Entrada: Solución inicial (secuencia de trabajos)</a:t>
            </a:r>
          </a:p>
          <a:p>
            <a:pPr marL="0" indent="0">
              <a:buNone/>
            </a:pPr>
            <a:r>
              <a:rPr lang="es-MX" sz="2400" dirty="0"/>
              <a:t>	Mientras haya mejora:  </a:t>
            </a:r>
          </a:p>
          <a:p>
            <a:pPr marL="0" indent="0">
              <a:buNone/>
            </a:pPr>
            <a:r>
              <a:rPr lang="es-MX" sz="2400" dirty="0"/>
              <a:t>		Para cada </a:t>
            </a:r>
            <a:r>
              <a:rPr lang="es-CO" sz="2400" dirty="0"/>
              <a:t>posición i:</a:t>
            </a:r>
          </a:p>
          <a:p>
            <a:pPr marL="0" indent="0">
              <a:buNone/>
            </a:pPr>
            <a:r>
              <a:rPr lang="es-CO" sz="2400" dirty="0"/>
              <a:t>			</a:t>
            </a:r>
            <a:r>
              <a:rPr lang="es-MX" sz="2400" dirty="0"/>
              <a:t>Extraer trabajo en posición i</a:t>
            </a:r>
          </a:p>
          <a:p>
            <a:pPr marL="0" indent="0">
              <a:buNone/>
            </a:pPr>
            <a:r>
              <a:rPr lang="es-MX" sz="2400" dirty="0"/>
              <a:t>			</a:t>
            </a:r>
            <a:r>
              <a:rPr lang="sv-SE" sz="2400" dirty="0"/>
              <a:t>Para j en [i+1, i+10]:</a:t>
            </a:r>
            <a:endParaRPr lang="es-MX" sz="2400" dirty="0"/>
          </a:p>
          <a:p>
            <a:pPr marL="0" indent="0">
              <a:buNone/>
            </a:pPr>
            <a:r>
              <a:rPr lang="es-MX" sz="2400" dirty="0"/>
              <a:t>				Generar vecino intercambiando i y j</a:t>
            </a:r>
          </a:p>
          <a:p>
            <a:pPr marL="0" indent="0">
              <a:buNone/>
            </a:pPr>
            <a:r>
              <a:rPr lang="es-MX" sz="2400" dirty="0"/>
              <a:t>				Evaluar </a:t>
            </a:r>
            <a:r>
              <a:rPr lang="es-MX" sz="2400" dirty="0" err="1"/>
              <a:t>flow</a:t>
            </a:r>
            <a:r>
              <a:rPr lang="es-MX" sz="2400" dirty="0"/>
              <a:t> time del vecino</a:t>
            </a:r>
          </a:p>
          <a:p>
            <a:pPr marL="0" indent="0">
              <a:buNone/>
            </a:pPr>
            <a:r>
              <a:rPr lang="es-MX" sz="2400" dirty="0"/>
              <a:t>		Seleccionar mejor vecino encontrado  </a:t>
            </a:r>
          </a:p>
          <a:p>
            <a:pPr marL="0" indent="0">
              <a:buNone/>
            </a:pPr>
            <a:r>
              <a:rPr lang="es-MX" sz="2400" dirty="0"/>
              <a:t>		Si mejor &lt; actual:    </a:t>
            </a:r>
          </a:p>
          <a:p>
            <a:pPr marL="0" indent="0">
              <a:buNone/>
            </a:pPr>
            <a:r>
              <a:rPr lang="es-MX" sz="2400" dirty="0"/>
              <a:t>			Actualizar solución</a:t>
            </a:r>
          </a:p>
          <a:p>
            <a:pPr marL="0" indent="0">
              <a:buNone/>
            </a:pPr>
            <a:r>
              <a:rPr lang="es-MX" sz="2400" dirty="0"/>
              <a:t>	Retornar mejor solución</a:t>
            </a:r>
            <a:endParaRPr lang="es-CO" sz="2400" dirty="0"/>
          </a:p>
        </p:txBody>
      </p:sp>
    </p:spTree>
    <p:extLst>
      <p:ext uri="{BB962C8B-B14F-4D97-AF65-F5344CB8AC3E}">
        <p14:creationId xmlns:p14="http://schemas.microsoft.com/office/powerpoint/2010/main" val="983523100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</p:spPr>
            <p:txBody>
              <a:bodyPr>
                <a:normAutofit/>
              </a:bodyPr>
              <a:lstStyle/>
              <a:p>
                <a:pPr marL="0" indent="0">
                  <a:buNone/>
                </a:pPr>
                <a:r>
                  <a:rPr lang="es-MX" sz="2400" b="1" dirty="0"/>
                  <a:t>Características:</a:t>
                </a:r>
              </a:p>
              <a:p>
                <a:r>
                  <a:rPr lang="es-CO" sz="2400" dirty="0"/>
                  <a:t>Estrategia: </a:t>
                </a:r>
                <a:r>
                  <a:rPr lang="es-CO" sz="2400" dirty="0" err="1"/>
                  <a:t>Best</a:t>
                </a:r>
                <a:r>
                  <a:rPr lang="es-CO" sz="2400" dirty="0"/>
                  <a:t> </a:t>
                </a:r>
                <a:r>
                  <a:rPr lang="es-CO" sz="2400" dirty="0" err="1"/>
                  <a:t>Improvement</a:t>
                </a:r>
                <a:endParaRPr lang="es-CO" sz="2400" dirty="0"/>
              </a:p>
              <a:p>
                <a:r>
                  <a:rPr lang="es-CO" sz="2400" dirty="0" err="1"/>
                  <a:t>Moviemiento</a:t>
                </a:r>
                <a:r>
                  <a:rPr lang="es-CO" sz="2400" dirty="0"/>
                  <a:t>: Swap (intercambio) con rango limitado</a:t>
                </a:r>
              </a:p>
              <a:p>
                <a:r>
                  <a:rPr lang="es-MX" sz="2400" dirty="0"/>
                  <a:t>Restricción: Máximo 10 posiciones de distancia</a:t>
                </a:r>
              </a:p>
              <a:p>
                <a:r>
                  <a:rPr lang="es-CO" sz="2400" dirty="0"/>
                  <a:t>Vecinos por Vecindario: 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×10</m:t>
                    </m:r>
                  </m:oMath>
                </a14:m>
                <a:endParaRPr lang="es-MX" sz="2400" dirty="0"/>
              </a:p>
              <a:p>
                <a:r>
                  <a:rPr lang="es-MX" sz="2400" dirty="0"/>
                  <a:t>Complejidad:	</a:t>
                </a:r>
                <a14:m>
                  <m:oMath xmlns:m="http://schemas.openxmlformats.org/officeDocument/2006/math"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𝑂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(</m:t>
                    </m:r>
                    <m:r>
                      <a:rPr lang="es-MX" sz="2400" b="0" i="1" smtClean="0">
                        <a:latin typeface="Cambria Math" panose="02040503050406030204" pitchFamily="18" charset="0"/>
                      </a:rPr>
                      <m:t>𝑛</m:t>
                    </m:r>
                    <m:r>
                      <a:rPr lang="es-MX" sz="2400" b="0" i="1" smtClean="0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×10)</m:t>
                    </m:r>
                  </m:oMath>
                </a14:m>
                <a:endParaRPr lang="es-MX" sz="2400" dirty="0"/>
              </a:p>
              <a:p>
                <a:endParaRPr lang="es-MX" sz="2400" dirty="0"/>
              </a:p>
              <a:p>
                <a:pPr marL="0" indent="0">
                  <a:buFont typeface="Arial" panose="020B0604020202020204" pitchFamily="34" charset="0"/>
                  <a:buNone/>
                </a:pPr>
                <a:r>
                  <a:rPr lang="es-MX" sz="2400" b="1" dirty="0"/>
                  <a:t>Ventaja:</a:t>
                </a:r>
              </a:p>
              <a:p>
                <a:pPr marL="0" indent="0">
                  <a:buNone/>
                </a:pPr>
                <a:r>
                  <a:rPr lang="es-MX" sz="2400" dirty="0"/>
                  <a:t>Evalúa todos los posibles intercambios en rango, encuentra la mejor mejora local.	</a:t>
                </a:r>
              </a:p>
              <a:p>
                <a:pPr marL="0" indent="0">
                  <a:buNone/>
                </a:pPr>
                <a:endParaRPr lang="es-MX" sz="2400" dirty="0"/>
              </a:p>
              <a:p>
                <a:endParaRPr lang="es-MX" dirty="0"/>
              </a:p>
              <a:p>
                <a:endParaRPr lang="es-MX" dirty="0"/>
              </a:p>
            </p:txBody>
          </p:sp>
        </mc:Choice>
        <mc:Fallback xmlns="">
          <p:sp>
            <p:nvSpPr>
              <p:cNvPr id="3" name="Marcador de contenido 2">
                <a:extLst>
                  <a:ext uri="{FF2B5EF4-FFF2-40B4-BE49-F238E27FC236}">
                    <a16:creationId xmlns:a16="http://schemas.microsoft.com/office/drawing/2014/main" id="{67D560D4-1675-471D-8B88-EE6DB4238AE2}"/>
                  </a:ext>
                </a:extLst>
              </p:cNvPr>
              <p:cNvSpPr>
                <a:spLocks noGrp="1" noRot="1" noChangeAspect="1" noMove="1" noResize="1" noEditPoints="1" noAdjustHandles="1" noChangeArrowheads="1" noChangeShapeType="1" noTextEdit="1"/>
              </p:cNvSpPr>
              <p:nvPr>
                <p:ph idx="1"/>
              </p:nvPr>
            </p:nvSpPr>
            <p:spPr>
              <a:xfrm>
                <a:off x="594826" y="789927"/>
                <a:ext cx="11002347" cy="5582881"/>
              </a:xfrm>
              <a:blipFill>
                <a:blip r:embed="rId2"/>
                <a:stretch>
                  <a:fillRect l="-887" t="-874"/>
                </a:stretch>
              </a:blipFill>
            </p:spPr>
            <p:txBody>
              <a:bodyPr/>
              <a:lstStyle/>
              <a:p>
                <a:r>
                  <a:rPr lang="es-CO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8" name="Marcador de contenido 2">
            <a:extLst>
              <a:ext uri="{FF2B5EF4-FFF2-40B4-BE49-F238E27FC236}">
                <a16:creationId xmlns:a16="http://schemas.microsoft.com/office/drawing/2014/main" id="{9791CC79-2D3B-9447-41F9-B42281207BC7}"/>
              </a:ext>
            </a:extLst>
          </p:cNvPr>
          <p:cNvSpPr txBox="1">
            <a:spLocks/>
          </p:cNvSpPr>
          <p:nvPr/>
        </p:nvSpPr>
        <p:spPr>
          <a:xfrm>
            <a:off x="838200" y="4096074"/>
            <a:ext cx="10515600" cy="2531771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>
            <a:lvl1pPr marL="228600" indent="-228600" algn="l" defTabSz="914400" rtl="0" eaLnBrk="1" latinLnBrk="0" hangingPunct="1">
              <a:lnSpc>
                <a:spcPct val="90000"/>
              </a:lnSpc>
              <a:spcBef>
                <a:spcPts val="1000"/>
              </a:spcBef>
              <a:buFont typeface="Arial" panose="020B0604020202020204" pitchFamily="34" charset="0"/>
              <a:buChar char="•"/>
              <a:defRPr sz="2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685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4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1143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20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600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20574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5146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9718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4290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886200" indent="-228600" algn="l" defTabSz="914400" rtl="0" eaLnBrk="1" latinLnBrk="0" hangingPunct="1">
              <a:lnSpc>
                <a:spcPct val="90000"/>
              </a:lnSpc>
              <a:spcBef>
                <a:spcPts val="500"/>
              </a:spcBef>
              <a:buFont typeface="Arial" panose="020B0604020202020204" pitchFamily="34" charset="0"/>
              <a:buChar char="•"/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endParaRPr lang="es-MX" dirty="0"/>
          </a:p>
        </p:txBody>
      </p:sp>
    </p:spTree>
    <p:extLst>
      <p:ext uri="{BB962C8B-B14F-4D97-AF65-F5344CB8AC3E}">
        <p14:creationId xmlns:p14="http://schemas.microsoft.com/office/powerpoint/2010/main" val="305972283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ítulo 1">
            <a:extLst>
              <a:ext uri="{FF2B5EF4-FFF2-40B4-BE49-F238E27FC236}">
                <a16:creationId xmlns:a16="http://schemas.microsoft.com/office/drawing/2014/main" id="{F27D8515-D9D1-0E1C-AC6F-6109E1B40F55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s-MX" dirty="0"/>
              <a:t>COMPARACIÓN CON LOS ALGORTIMOS PREVIOS</a:t>
            </a:r>
            <a:endParaRPr lang="es-CO" dirty="0"/>
          </a:p>
        </p:txBody>
      </p:sp>
      <p:graphicFrame>
        <p:nvGraphicFramePr>
          <p:cNvPr id="4" name="Marcador de contenido 3">
            <a:extLst>
              <a:ext uri="{FF2B5EF4-FFF2-40B4-BE49-F238E27FC236}">
                <a16:creationId xmlns:a16="http://schemas.microsoft.com/office/drawing/2014/main" id="{63631A1E-3F06-B8E6-7F0F-B0D95038147F}"/>
              </a:ext>
            </a:extLst>
          </p:cNvPr>
          <p:cNvGraphicFramePr>
            <a:graphicFrameLocks noGrp="1"/>
          </p:cNvGraphicFramePr>
          <p:nvPr>
            <p:ph idx="1"/>
            <p:extLst>
              <p:ext uri="{D42A27DB-BD31-4B8C-83A1-F6EECF244321}">
                <p14:modId xmlns:p14="http://schemas.microsoft.com/office/powerpoint/2010/main" val="2071852287"/>
              </p:ext>
            </p:extLst>
          </p:nvPr>
        </p:nvGraphicFramePr>
        <p:xfrm>
          <a:off x="486666" y="2132595"/>
          <a:ext cx="11218668" cy="299351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370126">
                  <a:extLst>
                    <a:ext uri="{9D8B030D-6E8A-4147-A177-3AD203B41FA5}">
                      <a16:colId xmlns:a16="http://schemas.microsoft.com/office/drawing/2014/main" val="1146495230"/>
                    </a:ext>
                  </a:extLst>
                </a:gridCol>
                <a:gridCol w="1835207">
                  <a:extLst>
                    <a:ext uri="{9D8B030D-6E8A-4147-A177-3AD203B41FA5}">
                      <a16:colId xmlns:a16="http://schemas.microsoft.com/office/drawing/2014/main" val="1927453104"/>
                    </a:ext>
                  </a:extLst>
                </a:gridCol>
                <a:gridCol w="1602667">
                  <a:extLst>
                    <a:ext uri="{9D8B030D-6E8A-4147-A177-3AD203B41FA5}">
                      <a16:colId xmlns:a16="http://schemas.microsoft.com/office/drawing/2014/main" val="4240006572"/>
                    </a:ext>
                  </a:extLst>
                </a:gridCol>
                <a:gridCol w="1602667">
                  <a:extLst>
                    <a:ext uri="{9D8B030D-6E8A-4147-A177-3AD203B41FA5}">
                      <a16:colId xmlns:a16="http://schemas.microsoft.com/office/drawing/2014/main" val="2117653252"/>
                    </a:ext>
                  </a:extLst>
                </a:gridCol>
                <a:gridCol w="1602667">
                  <a:extLst>
                    <a:ext uri="{9D8B030D-6E8A-4147-A177-3AD203B41FA5}">
                      <a16:colId xmlns:a16="http://schemas.microsoft.com/office/drawing/2014/main" val="717254183"/>
                    </a:ext>
                  </a:extLst>
                </a:gridCol>
                <a:gridCol w="1602667">
                  <a:extLst>
                    <a:ext uri="{9D8B030D-6E8A-4147-A177-3AD203B41FA5}">
                      <a16:colId xmlns:a16="http://schemas.microsoft.com/office/drawing/2014/main" val="3983352764"/>
                    </a:ext>
                  </a:extLst>
                </a:gridCol>
                <a:gridCol w="1602667">
                  <a:extLst>
                    <a:ext uri="{9D8B030D-6E8A-4147-A177-3AD203B41FA5}">
                      <a16:colId xmlns:a16="http://schemas.microsoft.com/office/drawing/2014/main" val="149044878"/>
                    </a:ext>
                  </a:extLst>
                </a:gridCol>
              </a:tblGrid>
              <a:tr h="489307"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Constructivo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GRASP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Simulated Annealing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2-OPT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Insertion-10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Swap-10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351850968"/>
                  </a:ext>
                </a:extLst>
              </a:tr>
              <a:tr h="719517">
                <a:tc>
                  <a:txBody>
                    <a:bodyPr/>
                    <a:lstStyle/>
                    <a:p>
                      <a:r>
                        <a:rPr lang="es-MX" dirty="0"/>
                        <a:t>Instancias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10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14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s-MX" dirty="0"/>
                        <a:t>14</a:t>
                      </a:r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416087173"/>
                  </a:ext>
                </a:extLst>
              </a:tr>
              <a:tr h="719517">
                <a:tc>
                  <a:txBody>
                    <a:bodyPr/>
                    <a:lstStyle/>
                    <a:p>
                      <a:r>
                        <a:rPr lang="es-MX" dirty="0"/>
                        <a:t>GAP promedio</a:t>
                      </a:r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9752877"/>
                  </a:ext>
                </a:extLst>
              </a:tr>
              <a:tr h="719517">
                <a:tc>
                  <a:txBody>
                    <a:bodyPr/>
                    <a:lstStyle/>
                    <a:p>
                      <a:r>
                        <a:rPr lang="es-MX" dirty="0"/>
                        <a:t>Tiempo</a:t>
                      </a:r>
                    </a:p>
                    <a:p>
                      <a:r>
                        <a:rPr lang="es-MX" dirty="0"/>
                        <a:t>Promedio</a:t>
                      </a:r>
                      <a:endParaRPr lang="es-CO" dirty="0"/>
                    </a:p>
                    <a:p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endParaRPr lang="es-CO" dirty="0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55173505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183726943"/>
      </p:ext>
    </p:extLst>
  </p:cSld>
  <p:clrMapOvr>
    <a:masterClrMapping/>
  </p:clrMapOvr>
</p:sld>
</file>

<file path=ppt/theme/theme1.xml><?xml version="1.0" encoding="utf-8"?>
<a:theme xmlns:a="http://schemas.openxmlformats.org/drawingml/2006/main" name="Faceta">
  <a:themeElements>
    <a:clrScheme name="Faceta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90C226"/>
      </a:accent1>
      <a:accent2>
        <a:srgbClr val="54A021"/>
      </a:accent2>
      <a:accent3>
        <a:srgbClr val="E6B91E"/>
      </a:accent3>
      <a:accent4>
        <a:srgbClr val="E76618"/>
      </a:accent4>
      <a:accent5>
        <a:srgbClr val="C42F1A"/>
      </a:accent5>
      <a:accent6>
        <a:srgbClr val="918655"/>
      </a:accent6>
      <a:hlink>
        <a:srgbClr val="99CA3C"/>
      </a:hlink>
      <a:folHlink>
        <a:srgbClr val="B9D181"/>
      </a:folHlink>
    </a:clrScheme>
    <a:fontScheme name="Faceta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a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CFBC31BA-B70F-4F30-BCAA-4F3011E16C4D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209</TotalTime>
  <Words>541</Words>
  <Application>Microsoft Office PowerPoint</Application>
  <PresentationFormat>Panorámica</PresentationFormat>
  <Paragraphs>97</Paragraphs>
  <Slides>9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4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9</vt:i4>
      </vt:variant>
    </vt:vector>
  </HeadingPairs>
  <TitlesOfParts>
    <vt:vector size="14" baseType="lpstr">
      <vt:lpstr>Arial</vt:lpstr>
      <vt:lpstr>Cambria Math</vt:lpstr>
      <vt:lpstr>Trebuchet MS</vt:lpstr>
      <vt:lpstr>Wingdings 3</vt:lpstr>
      <vt:lpstr>Faceta</vt:lpstr>
      <vt:lpstr>Trabajo 2 - Heurística</vt:lpstr>
      <vt:lpstr>Contenido</vt:lpstr>
      <vt:lpstr>ALGORITMO 2-OPT</vt:lpstr>
      <vt:lpstr>Presentación de PowerPoint</vt:lpstr>
      <vt:lpstr>ALGORITMO INSERTION 10-RANGE</vt:lpstr>
      <vt:lpstr>Presentación de PowerPoint</vt:lpstr>
      <vt:lpstr>ALGORITMO SWAP 10-RANGE</vt:lpstr>
      <vt:lpstr>Presentación de PowerPoint</vt:lpstr>
      <vt:lpstr>COMPARACIÓN CON LOS ALGORTIMOS PREVIOS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Arturo Murgueytio</dc:creator>
  <cp:lastModifiedBy>Arturo Murgueytio</cp:lastModifiedBy>
  <cp:revision>3</cp:revision>
  <dcterms:created xsi:type="dcterms:W3CDTF">2026-04-21T01:22:44Z</dcterms:created>
  <dcterms:modified xsi:type="dcterms:W3CDTF">2026-04-21T21:18:19Z</dcterms:modified>
</cp:coreProperties>
</file>